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8" r:id="rId13"/>
    <p:sldId id="269" r:id="rId14"/>
    <p:sldId id="271" r:id="rId15"/>
    <p:sldId id="266" r:id="rId16"/>
    <p:sldId id="270" r:id="rId17"/>
    <p:sldId id="267" r:id="rId18"/>
    <p:sldId id="272" r:id="rId19"/>
    <p:sldId id="273" r:id="rId2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8"/>
  </p:normalViewPr>
  <p:slideViewPr>
    <p:cSldViewPr snapToGrid="0">
      <p:cViewPr varScale="1">
        <p:scale>
          <a:sx n="122" d="100"/>
          <a:sy n="122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9B24-2B64-0141-5215-DB879521D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39C2E-753C-B6BF-4D40-EC3349DDF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10AE0-6281-1F11-DEE8-A285B319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2A89D-327C-B81B-A858-3644AF5BC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B51C-1084-8187-DCF5-5EB936C1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555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D626-173C-E297-F126-7B49764F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7AAC-4530-9633-67FB-7704B0EEB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F6165-A43F-7969-4B7B-D5EE8FD5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06016-6398-8E0D-B35D-F957AF12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6235-968C-9BC8-323A-ABAFE7EB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700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1302-FA69-07C2-2D6C-884D1703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C83BE-F99D-F066-AD0C-5E82E2F55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13C0-C147-6A74-C977-B504A117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07E98-CEE9-2618-E55B-CE5BE306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68B1F-FB30-0C59-9B5B-2E4F288A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300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4224-DBD1-4223-EE85-F6B1954C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FA1FE-D48D-A7FA-8A25-09B4BDF71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47722-30F4-037F-E4F1-CEED1E42F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930A6-1A99-5D17-67D4-D182787A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84A5C-3E15-94A8-E2ED-071C6749C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0D3E1-8509-6521-D78C-EE6D2F0E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230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BAE4-D058-0BEA-CD71-D8C6AF801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4977B-B335-9D85-A334-481E11E68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ED2E2-8F10-5614-C33F-45EF790D2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8B5B2-7031-7A56-8FE6-7A9D0A2F0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DE7D7-030E-9584-41F7-371BEE31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9AD9E-3E44-0116-EC11-113D7E1F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3E30C-431A-9F62-B15A-C50925260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C09C3-2D44-E2B1-4645-93C5219E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925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444C-E85F-6ED8-E0D4-8572537B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A2EC1F-A1E6-51A5-5671-64EF1284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5F837-9960-4F01-1994-11B3D7F0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AD76E-C09D-2A67-E833-829EA7CB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299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78242-E25B-77FB-497C-D52B1B7F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7095C-0DF2-3CDD-B5C0-24EDB539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FD122-C85A-CE2B-6C1F-96BE9B6D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43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2114-AC2A-97FD-BBD6-7DD8D628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0BFA-0F20-DF5A-F88F-050EE5B1E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DAA54-5A9C-C993-5D9F-148FC1C58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21390-3125-1C58-3B70-E1CAFC6B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BA7C3-5E88-01CB-64EA-72F28903D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B24A9-061B-53FD-BBDE-13B9AD03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577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A779-2947-679B-565F-E1CCC501F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896B5-0A1E-8F41-06D3-355F8EA60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B540F-719B-5452-955E-88E55D9CB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06915-8D42-2872-85D6-087D499A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D5497-9500-9826-EC0F-A67FAA77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7EC70-CE0B-3F74-813D-3F5B29F4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14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7CC8-3731-2E70-D5B5-4C51ADF1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11597-40B9-A02B-CA1F-E94EB16CB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EE906-DEE7-E096-19A2-08424697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7B0C4-8A28-586F-299F-15221321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2DFF-4E45-FC8F-AD91-077CE4CF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147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6D81B-35C4-1E5D-3558-CE4713C39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7D727-565D-7864-1F95-45677B7D0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229FF-93F1-42E1-CF88-D54034F3F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F8A0B-7721-C608-9D3C-2F0E0DCD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29F25-770D-32D3-7EF4-A0D95737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670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FD02D-F78B-3997-ADA9-EAEA5E4F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44468-3C12-02F2-B931-7C87DA329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39301-EB31-7993-EABB-8321E1E59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43456-706B-44FC-AC0A-4744AD7A02F5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EE6A-C973-9FF5-69CB-00030BDE8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2528D-B87B-290E-97F7-EBF9739D9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9EBC7-F019-4E7E-8EBF-FC71F6E05A7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048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9EA2AC-1172-4F6F-9B92-1CA192ECB36E}"/>
              </a:ext>
            </a:extLst>
          </p:cNvPr>
          <p:cNvSpPr txBox="1"/>
          <p:nvPr/>
        </p:nvSpPr>
        <p:spPr>
          <a:xfrm>
            <a:off x="2186799" y="1181721"/>
            <a:ext cx="6737807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Active Management</a:t>
            </a:r>
          </a:p>
          <a:p>
            <a:pPr algn="ctr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Necessity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Drivers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 Management Puzzle</a:t>
            </a:r>
          </a:p>
          <a:p>
            <a:pPr algn="ctr"/>
            <a:endParaRPr lang="tr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90744-6028-6742-C47F-082BA043AA95}"/>
              </a:ext>
            </a:extLst>
          </p:cNvPr>
          <p:cNvSpPr txBox="1"/>
          <p:nvPr/>
        </p:nvSpPr>
        <p:spPr>
          <a:xfrm>
            <a:off x="4161732" y="3768064"/>
            <a:ext cx="27879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Ömer Eren</a:t>
            </a:r>
          </a:p>
          <a:p>
            <a:pPr algn="ctr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Bogazici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Management</a:t>
            </a:r>
          </a:p>
          <a:p>
            <a:pPr algn="ctr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09/01/2026</a:t>
            </a:r>
          </a:p>
        </p:txBody>
      </p:sp>
    </p:spTree>
    <p:extLst>
      <p:ext uri="{BB962C8B-B14F-4D97-AF65-F5344CB8AC3E}">
        <p14:creationId xmlns:p14="http://schemas.microsoft.com/office/powerpoint/2010/main" val="295436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B0648E-CB5B-936F-CEE3-7868BF10F5ED}"/>
              </a:ext>
            </a:extLst>
          </p:cNvPr>
          <p:cNvSpPr txBox="1"/>
          <p:nvPr/>
        </p:nvSpPr>
        <p:spPr>
          <a:xfrm>
            <a:off x="711882" y="1386942"/>
            <a:ext cx="8014808" cy="29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Management Puzzle </a:t>
            </a:r>
          </a:p>
          <a:p>
            <a:pPr>
              <a:lnSpc>
                <a:spcPct val="200000"/>
              </a:lnSpc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actively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despite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suggesting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virtually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impossible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812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67B96F-F171-913C-1CDE-083DB598CC2E}"/>
              </a:ext>
            </a:extLst>
          </p:cNvPr>
          <p:cNvSpPr txBox="1"/>
          <p:nvPr/>
        </p:nvSpPr>
        <p:spPr>
          <a:xfrm>
            <a:off x="622041" y="754047"/>
            <a:ext cx="7218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Active Management (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Sharpe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A9BD0-E55F-0F48-9EFB-A03A3B98C806}"/>
              </a:ext>
            </a:extLst>
          </p:cNvPr>
          <p:cNvSpPr txBox="1"/>
          <p:nvPr/>
        </p:nvSpPr>
        <p:spPr>
          <a:xfrm>
            <a:off x="622041" y="1978090"/>
            <a:ext cx="96105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actively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passively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98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12C5C3-E38C-B9B0-0EC7-5D40607A4B28}"/>
                  </a:ext>
                </a:extLst>
              </p:cNvPr>
              <p:cNvSpPr txBox="1"/>
              <p:nvPr/>
            </p:nvSpPr>
            <p:spPr>
              <a:xfrm>
                <a:off x="2813284" y="690299"/>
                <a:ext cx="2781659" cy="6544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tr-TR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tr-TR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tr-TR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tr-TR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</m:oMath>
                  </m:oMathPara>
                </a14:m>
                <a:endParaRPr lang="tr-TR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tr-TR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tr-TR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tr-TR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tr-TR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tr-TR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tr-TR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tr-TR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tr-TR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tr-TR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tr-TR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  <m:r>
                        <a:rPr lang="tr-TR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sub>
                      </m:sSub>
                      <m:r>
                        <a:rPr lang="tr-TR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tr-TR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sub>
                      </m:sSub>
                    </m:oMath>
                  </m:oMathPara>
                </a14:m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tr-TR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12C5C3-E38C-B9B0-0EC7-5D40607A4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284" y="690299"/>
                <a:ext cx="2781659" cy="6544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D6F84F-0933-0203-3046-991D67FC8C5A}"/>
                  </a:ext>
                </a:extLst>
              </p:cNvPr>
              <p:cNvSpPr txBox="1"/>
              <p:nvPr/>
            </p:nvSpPr>
            <p:spPr>
              <a:xfrm>
                <a:off x="7178352" y="1626554"/>
                <a:ext cx="3489801" cy="2000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tr-TR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tr-T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tr-TR" sz="2400" dirty="0"/>
              </a:p>
              <a:p>
                <a:endParaRPr lang="tr-TR" sz="2400" dirty="0"/>
              </a:p>
              <a:p>
                <a14:m>
                  <m:oMath xmlns:m="http://schemas.openxmlformats.org/officeDocument/2006/math">
                    <m:r>
                      <a:rPr lang="tr-TR" sz="240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tr-TR" sz="2400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tr-T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tr-TR" sz="2400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tr-TR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tr-TR" sz="2400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lit/>
                      </m:rPr>
                      <a:rPr lang="tr-TR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tr-TR" sz="2400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tr-T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tr-TR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tr-TR" sz="2400" b="1" dirty="0"/>
                      <m:t> </m:t>
                    </m:r>
                    <m:sSub>
                      <m:sSubPr>
                        <m:ctrlPr>
                          <a:rPr lang="tr-T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tr-TR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tr-TR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tr-TR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D6F84F-0933-0203-3046-991D67FC8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352" y="1626554"/>
                <a:ext cx="3489801" cy="2000612"/>
              </a:xfrm>
              <a:prstGeom prst="rect">
                <a:avLst/>
              </a:prstGeom>
              <a:blipFill>
                <a:blip r:embed="rId3"/>
                <a:stretch>
                  <a:fillRect r="-524" b="-182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69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9C4A0B-1584-43E1-51A3-506E24CD02D1}"/>
              </a:ext>
            </a:extLst>
          </p:cNvPr>
          <p:cNvSpPr txBox="1"/>
          <p:nvPr/>
        </p:nvSpPr>
        <p:spPr>
          <a:xfrm>
            <a:off x="662787" y="312983"/>
            <a:ext cx="5793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 vs.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Debate</a:t>
            </a:r>
            <a:endParaRPr lang="tr-T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05C24-8E77-F8F4-BE2E-6E267063B683}"/>
              </a:ext>
            </a:extLst>
          </p:cNvPr>
          <p:cNvSpPr txBox="1"/>
          <p:nvPr/>
        </p:nvSpPr>
        <p:spPr>
          <a:xfrm>
            <a:off x="945085" y="1362394"/>
            <a:ext cx="86407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Sharpe’s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preclude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persistently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expense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Carhart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(1997)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much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mutual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attributed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momentum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Jegadeesh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Titman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(1993).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French (2010)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conclude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net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almost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indistinguishable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Although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consensus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a ‘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fool’s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Dyck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Pomorski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Malkiel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1995),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suggest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outperferforms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risk-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emerging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small-cap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Gopane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Setaka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Prondzinski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Miller, 2018).</a:t>
            </a:r>
          </a:p>
        </p:txBody>
      </p:sp>
    </p:spTree>
    <p:extLst>
      <p:ext uri="{BB962C8B-B14F-4D97-AF65-F5344CB8AC3E}">
        <p14:creationId xmlns:p14="http://schemas.microsoft.com/office/powerpoint/2010/main" val="331308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72608A-76E4-07CF-66EE-9CCE33356E5C}"/>
              </a:ext>
            </a:extLst>
          </p:cNvPr>
          <p:cNvSpPr txBox="1"/>
          <p:nvPr/>
        </p:nvSpPr>
        <p:spPr>
          <a:xfrm>
            <a:off x="773251" y="472542"/>
            <a:ext cx="5495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actively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97AC7-CBA0-FBC8-E668-789664A0FEDD}"/>
              </a:ext>
            </a:extLst>
          </p:cNvPr>
          <p:cNvSpPr txBox="1"/>
          <p:nvPr/>
        </p:nvSpPr>
        <p:spPr>
          <a:xfrm>
            <a:off x="834620" y="1399216"/>
            <a:ext cx="77140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Informational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Necessity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‘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arbitrageurs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mispriced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securities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fundamental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collapse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(Grossman &amp; Stiglitz, 1980).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though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fail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013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1EC5-08AD-E677-A301-DD0EDBE2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1394A7-9472-8141-BA23-156E56C5FDC4}"/>
              </a:ext>
            </a:extLst>
          </p:cNvPr>
          <p:cNvSpPr txBox="1"/>
          <p:nvPr/>
        </p:nvSpPr>
        <p:spPr>
          <a:xfrm>
            <a:off x="773251" y="472542"/>
            <a:ext cx="5495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actively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EBF99-9EA5-A6FF-B0E1-09DD736E7073}"/>
              </a:ext>
            </a:extLst>
          </p:cNvPr>
          <p:cNvSpPr txBox="1"/>
          <p:nvPr/>
        </p:nvSpPr>
        <p:spPr>
          <a:xfrm>
            <a:off x="834620" y="1399216"/>
            <a:ext cx="7714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5EF07-825E-16A3-550E-595594FE23DE}"/>
              </a:ext>
            </a:extLst>
          </p:cNvPr>
          <p:cNvSpPr txBox="1"/>
          <p:nvPr/>
        </p:nvSpPr>
        <p:spPr>
          <a:xfrm>
            <a:off x="834620" y="1429900"/>
            <a:ext cx="771409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chasing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hedging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crashes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systematic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Basu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Huang-Jones, 2015;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Gopane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Although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certainly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role 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underlying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behind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phenomenon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correlate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67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A90303-3627-64FA-996B-8282F14544A4}"/>
              </a:ext>
            </a:extLst>
          </p:cNvPr>
          <p:cNvSpPr txBox="1"/>
          <p:nvPr/>
        </p:nvSpPr>
        <p:spPr>
          <a:xfrm>
            <a:off x="773251" y="472542"/>
            <a:ext cx="5495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actively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7F5E3-4427-CC44-870D-8D8CF6074F7E}"/>
              </a:ext>
            </a:extLst>
          </p:cNvPr>
          <p:cNvSpPr txBox="1"/>
          <p:nvPr/>
        </p:nvSpPr>
        <p:spPr>
          <a:xfrm>
            <a:off x="889852" y="1411490"/>
            <a:ext cx="90089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Seminal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Tversky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Kahneman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(1974, 1992)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Bondt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Thaler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(1985)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perfectly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rational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fashion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victim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Overconfidence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Better-Than-Average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Illusion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Control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 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few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 Management Puzzle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Foster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Warren, 2015, 2016).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9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87EF7D-699C-2072-D562-D046C64024B5}"/>
              </a:ext>
            </a:extLst>
          </p:cNvPr>
          <p:cNvSpPr txBox="1"/>
          <p:nvPr/>
        </p:nvSpPr>
        <p:spPr>
          <a:xfrm>
            <a:off x="773251" y="472542"/>
            <a:ext cx="3390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lang="tr-T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A2358-D724-F064-D3C0-1F6B286F4497}"/>
              </a:ext>
            </a:extLst>
          </p:cNvPr>
          <p:cNvSpPr txBox="1"/>
          <p:nvPr/>
        </p:nvSpPr>
        <p:spPr>
          <a:xfrm>
            <a:off x="718019" y="1307145"/>
            <a:ext cx="88432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argue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purchase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solely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wealth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maximization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non-pecuniary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Statman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Overconfidence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belief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one’s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winners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Barber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Odean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2001).</a:t>
            </a:r>
          </a:p>
          <a:p>
            <a:pPr lvl="1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Illusion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tendency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overestimate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1975).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preference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lottery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overweight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extreme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Tversky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Kahneman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1992).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075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0CFF1-A33C-D725-F4CE-FA310CD8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0EEBE8-3395-7626-C7C8-E2227AD13829}"/>
              </a:ext>
            </a:extLst>
          </p:cNvPr>
          <p:cNvSpPr txBox="1"/>
          <p:nvPr/>
        </p:nvSpPr>
        <p:spPr>
          <a:xfrm>
            <a:off x="773251" y="472542"/>
            <a:ext cx="3390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lang="tr-T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7C6AC7-8667-04EA-6669-B5CB1017E907}"/>
              </a:ext>
            </a:extLst>
          </p:cNvPr>
          <p:cNvSpPr txBox="1"/>
          <p:nvPr/>
        </p:nvSpPr>
        <p:spPr>
          <a:xfrm>
            <a:off x="773251" y="1582340"/>
            <a:ext cx="76404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testable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hypotheses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chasing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prevalent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aggregate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illusion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correlate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outflows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capital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inflows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positively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inflow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indexers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87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FC684-75CB-8364-A852-23853E147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5" y="857660"/>
            <a:ext cx="9772861" cy="3484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072DE3-74E8-8780-1112-2DF6C2FE70F1}"/>
              </a:ext>
            </a:extLst>
          </p:cNvPr>
          <p:cNvSpPr txBox="1"/>
          <p:nvPr/>
        </p:nvSpPr>
        <p:spPr>
          <a:xfrm>
            <a:off x="3630507" y="4619413"/>
            <a:ext cx="4703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tr-T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convexity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Sirri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Tufano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1998) </a:t>
            </a:r>
          </a:p>
        </p:txBody>
      </p:sp>
    </p:spTree>
    <p:extLst>
      <p:ext uri="{BB962C8B-B14F-4D97-AF65-F5344CB8AC3E}">
        <p14:creationId xmlns:p14="http://schemas.microsoft.com/office/powerpoint/2010/main" val="878381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6115C0-FBFB-130A-6962-F27A9C0A1D74}"/>
              </a:ext>
            </a:extLst>
          </p:cNvPr>
          <p:cNvSpPr txBox="1"/>
          <p:nvPr/>
        </p:nvSpPr>
        <p:spPr>
          <a:xfrm>
            <a:off x="1037138" y="497090"/>
            <a:ext cx="414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0E0E28-4B39-6590-8D0D-5C1E99240C4C}"/>
                  </a:ext>
                </a:extLst>
              </p:cNvPr>
              <p:cNvSpPr txBox="1"/>
              <p:nvPr/>
            </p:nvSpPr>
            <p:spPr>
              <a:xfrm>
                <a:off x="1037138" y="1362395"/>
                <a:ext cx="7917209" cy="486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dependent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net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flows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calculated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follows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𝐹𝑙𝑜𝑤</m:t>
                          </m:r>
                        </m:e>
                        <m:sub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𝑇𝑁𝐴</m:t>
                              </m:r>
                            </m:e>
                            <m:sub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𝑇𝑁𝐴</m:t>
                              </m:r>
                            </m:e>
                            <m:sub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(1+</m:t>
                          </m:r>
                          <m:sSub>
                            <m:sSubPr>
                              <m:ctrlP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𝑇𝑁𝐴</m:t>
                              </m:r>
                            </m:e>
                            <m:sub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tr-T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tr-T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𝑇𝑁𝐴</m:t>
                    </m:r>
                  </m:oMath>
                </a14:m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stands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Total Net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Assets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endParaRPr lang="tr-T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Active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calculated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following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methodology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Cremers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Petajisto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(2009):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𝐴𝑐𝑡𝑖𝑣𝑒𝑆h𝑎𝑟𝑒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𝑓𝑢𝑛𝑑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𝑖𝑛𝑑𝑒𝑥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tr-T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tr-T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𝑓𝑢𝑛𝑑</m:t>
                        </m:r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denotes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stock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tr-TR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tr-TR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denotes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stock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tr-TR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benchmark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index</a:t>
                </a:r>
                <a:r>
                  <a:rPr lang="tr-T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0E0E28-4B39-6590-8D0D-5C1E99240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38" y="1362395"/>
                <a:ext cx="7917209" cy="4865050"/>
              </a:xfrm>
              <a:prstGeom prst="rect">
                <a:avLst/>
              </a:prstGeom>
              <a:blipFill>
                <a:blip r:embed="rId2"/>
                <a:stretch>
                  <a:fillRect l="-385" b="-62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94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D0A5-FE39-3884-D601-0BC1DD48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154B6-44F0-1C4D-9C1C-2EFB596E0308}"/>
              </a:ext>
            </a:extLst>
          </p:cNvPr>
          <p:cNvSpPr txBox="1"/>
          <p:nvPr/>
        </p:nvSpPr>
        <p:spPr>
          <a:xfrm>
            <a:off x="1037138" y="497090"/>
            <a:ext cx="4143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11827-5F77-E5E4-9E31-3FE65B18AA46}"/>
              </a:ext>
            </a:extLst>
          </p:cNvPr>
          <p:cNvSpPr txBox="1"/>
          <p:nvPr/>
        </p:nvSpPr>
        <p:spPr>
          <a:xfrm>
            <a:off x="1037138" y="1362395"/>
            <a:ext cx="7634319" cy="374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We’ll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below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orthogonalized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Baker-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Wungler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Index,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captures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propensity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speculate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tr-T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Year-over-change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FINRA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balances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serving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Illusion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Control.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Turnover</a:t>
            </a:r>
            <a:r>
              <a:rPr lang="tr-T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Market-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turnover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serving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conviction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overconfidence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134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43E52F-857B-E1EF-82E5-29EC7804A066}"/>
              </a:ext>
            </a:extLst>
          </p:cNvPr>
          <p:cNvSpPr txBox="1"/>
          <p:nvPr/>
        </p:nvSpPr>
        <p:spPr>
          <a:xfrm>
            <a:off x="1129193" y="558459"/>
            <a:ext cx="4644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tr-T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70A18-23FF-8128-4CC8-8930A520A277}"/>
              </a:ext>
            </a:extLst>
          </p:cNvPr>
          <p:cNvSpPr txBox="1"/>
          <p:nvPr/>
        </p:nvSpPr>
        <p:spPr>
          <a:xfrm>
            <a:off x="1208972" y="1790090"/>
            <a:ext cx="751771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Measured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Time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inception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Expense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annual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Volatility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12-month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Investment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dummy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Value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 vs.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81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8A0611-2598-58F4-F890-769AC2A61C0E}"/>
              </a:ext>
            </a:extLst>
          </p:cNvPr>
          <p:cNvSpPr txBox="1"/>
          <p:nvPr/>
        </p:nvSpPr>
        <p:spPr>
          <a:xfrm>
            <a:off x="1129193" y="558459"/>
            <a:ext cx="2412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B465A5-0D8B-BFFF-E40E-C37117FDAD47}"/>
                  </a:ext>
                </a:extLst>
              </p:cNvPr>
              <p:cNvSpPr txBox="1"/>
              <p:nvPr/>
            </p:nvSpPr>
            <p:spPr>
              <a:xfrm>
                <a:off x="969632" y="1423764"/>
                <a:ext cx="7646594" cy="3485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𝐹𝑙𝑜𝑤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𝐿𝑂𝑊</m:t>
                          </m:r>
                        </m:sup>
                      </m:sSubSup>
                      <m:r>
                        <a:rPr lang="tr-T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𝑀𝐼𝐷</m:t>
                          </m:r>
                        </m:sup>
                      </m:sSubSup>
                      <m:r>
                        <a:rPr lang="tr-T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𝐻𝐼𝐺𝐻</m:t>
                          </m:r>
                        </m:sup>
                      </m:sSubSup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𝐿𝑂𝑊</m:t>
                              </m:r>
                            </m:sup>
                          </m:sSubSup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p>
                          </m:sSubSup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𝐻𝐼𝐺𝐻</m:t>
                              </m:r>
                            </m:sup>
                          </m:sSubSup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η</m:t>
                      </m:r>
                      <m:d>
                        <m:d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𝐴𝑐𝑡𝑖𝑣𝑒𝑆h𝑎𝑟𝑒</m:t>
                              </m:r>
                            </m:e>
                            <m:sub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𝐵𝑖𝑎𝑠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𝐴𝑐𝑡𝑖𝑣𝑒𝑆h𝑎𝑟𝑒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φ</m:t>
                      </m:r>
                      <m:sSub>
                        <m:sSub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𝐶𝑜𝑛𝑡𝑟𝑜𝑙𝑠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tr-TR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B465A5-0D8B-BFFF-E40E-C37117FDA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32" y="1423764"/>
                <a:ext cx="7646594" cy="34850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905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74E4C1-3FCE-F4C5-03A0-9F3F93FB6BBC}"/>
              </a:ext>
            </a:extLst>
          </p:cNvPr>
          <p:cNvSpPr txBox="1"/>
          <p:nvPr/>
        </p:nvSpPr>
        <p:spPr>
          <a:xfrm>
            <a:off x="1129193" y="558459"/>
            <a:ext cx="2656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tr-T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CDC2C8-A0FF-4F60-9A6E-BC1630E80BD7}"/>
                  </a:ext>
                </a:extLst>
              </p:cNvPr>
              <p:cNvSpPr txBox="1"/>
              <p:nvPr/>
            </p:nvSpPr>
            <p:spPr>
              <a:xfrm>
                <a:off x="527775" y="1221246"/>
                <a:ext cx="9082631" cy="152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𝐹𝑙𝑜𝑤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400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𝐿𝑂𝑊</m:t>
                          </m:r>
                        </m:sup>
                      </m:sSubSup>
                      <m:r>
                        <a:rPr lang="tr-T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𝑀𝐼𝐷</m:t>
                          </m:r>
                        </m:sup>
                      </m:sSubSup>
                      <m:r>
                        <a:rPr lang="tr-T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𝐻𝐼𝐺𝐻</m:t>
                          </m:r>
                        </m:sup>
                      </m:sSubSup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𝐿𝑂𝑊</m:t>
                              </m:r>
                            </m:sup>
                          </m:sSub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p>
                          </m:sSubSup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𝐻𝐼𝐺𝐻</m:t>
                              </m:r>
                            </m:sup>
                          </m:sSubSup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η</m:t>
                      </m:r>
                      <m:d>
                        <m:d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𝐴𝑐𝑡𝑖𝑣𝑒𝑆h𝑎𝑟𝑒</m:t>
                              </m:r>
                            </m:e>
                            <m:sub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𝐵𝑖𝑎𝑠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𝐴𝑐𝑡𝑖𝑣𝑒𝑆h𝑎𝑟𝑒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</a:rPr>
                        <m:t>φ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𝐶𝑜𝑛𝑡𝑟𝑜𝑙𝑠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tr-TR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CDC2C8-A0FF-4F60-9A6E-BC1630E80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75" y="1221246"/>
                <a:ext cx="9082631" cy="15247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663714-2E5A-4769-0AE6-242752641618}"/>
                  </a:ext>
                </a:extLst>
              </p:cNvPr>
              <p:cNvSpPr txBox="1"/>
              <p:nvPr/>
            </p:nvSpPr>
            <p:spPr>
              <a:xfrm>
                <a:off x="1061686" y="3320927"/>
                <a:ext cx="9279011" cy="2315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tr-T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H1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tested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through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tr-TR" sz="1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significant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indicates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sentiment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flow-performance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relationship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becomes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steeper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investors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chase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winners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aggresively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during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optimistic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tr-T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H2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tested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examining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tr-TR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m:rPr>
                        <m:sty m:val="p"/>
                      </m:rPr>
                      <a:rPr lang="tr-TR" sz="14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400" i="1">
                            <a:latin typeface="Cambria Math" panose="02040503050406030204" pitchFamily="18" charset="0"/>
                          </a:rPr>
                          <m:t>𝐵𝑖𝑎𝑠</m:t>
                        </m:r>
                      </m:e>
                      <m:sub>
                        <m:r>
                          <a:rPr lang="tr-TR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Margin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Debt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non-significant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implies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highly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leveraged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investors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investors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susceptible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Illusion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Control)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less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likely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sell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losing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tr-TR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H3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tested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observing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400" b="1" i="1">
                        <a:latin typeface="Cambria Math" panose="02040503050406030204" pitchFamily="18" charset="0"/>
                      </a:rPr>
                      <m:t>𝜼</m:t>
                    </m:r>
                  </m:oMath>
                </a14:m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significant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suggests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during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sentiment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capital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disproportionately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into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Active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independent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fund’s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tr-T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rank</a:t>
                </a:r>
                <a:r>
                  <a:rPr lang="tr-T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663714-2E5A-4769-0AE6-242752641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86" y="3320927"/>
                <a:ext cx="9279011" cy="2315827"/>
              </a:xfrm>
              <a:prstGeom prst="rect">
                <a:avLst/>
              </a:prstGeom>
              <a:blipFill>
                <a:blip r:embed="rId3"/>
                <a:stretch>
                  <a:fillRect l="-137" b="-108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30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C4A2F5-CE02-DB9C-AE3A-E808BF05365F}"/>
              </a:ext>
            </a:extLst>
          </p:cNvPr>
          <p:cNvSpPr txBox="1"/>
          <p:nvPr/>
        </p:nvSpPr>
        <p:spPr>
          <a:xfrm>
            <a:off x="773251" y="540047"/>
            <a:ext cx="3261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D9FCD-E772-1D43-EABA-8AAC8C0F415F}"/>
              </a:ext>
            </a:extLst>
          </p:cNvPr>
          <p:cNvSpPr txBox="1"/>
          <p:nvPr/>
        </p:nvSpPr>
        <p:spPr>
          <a:xfrm>
            <a:off x="656648" y="1626282"/>
            <a:ext cx="9523671" cy="357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propose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estimate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marginal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investor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sacrifice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acquire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Lottery-ness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(Active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done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Marginal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 of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implied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equalizing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able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time-</a:t>
            </a:r>
            <a:r>
              <a:rPr lang="tr-T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varying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5977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8D99A0-9FF1-94B0-7DF7-61B173F1D3FD}"/>
              </a:ext>
            </a:extLst>
          </p:cNvPr>
          <p:cNvSpPr txBox="1"/>
          <p:nvPr/>
        </p:nvSpPr>
        <p:spPr>
          <a:xfrm>
            <a:off x="773251" y="540047"/>
            <a:ext cx="3261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952E1D-1BED-22A5-0434-43259888D01D}"/>
                  </a:ext>
                </a:extLst>
              </p:cNvPr>
              <p:cNvSpPr txBox="1"/>
              <p:nvPr/>
            </p:nvSpPr>
            <p:spPr>
              <a:xfrm>
                <a:off x="859167" y="3688285"/>
                <a:ext cx="4939622" cy="2354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𝑑𝐹𝑙𝑜𝑤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tr-TR" sz="1600"/>
                            <m:t>∂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𝐹𝑙𝑜𝑤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tr-TR" sz="1600"/>
                            <m:t>∂</m:t>
                          </m:r>
                          <m:sSub>
                            <m:sSubPr>
                              <m:ctrlPr>
                                <a:rPr lang="tr-T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𝑑𝑅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tr-T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tr-TR" sz="1600"/>
                            <m:t>∂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𝐹𝑙𝑜𝑤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tr-TR" sz="1600"/>
                            <m:t>∂</m:t>
                          </m:r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𝐴𝑐𝑡𝑖𝑣𝑒𝑆h𝑎𝑟𝑒</m:t>
                          </m:r>
                        </m:den>
                      </m:f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𝑑𝐴𝑆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tr-TR" sz="1600" b="0" dirty="0"/>
              </a:p>
              <a:p>
                <a:endParaRPr lang="tr-TR" sz="1600" b="0" dirty="0"/>
              </a:p>
              <a:p>
                <a:endParaRPr lang="tr-T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𝑟𝑎𝑛𝑘</m:t>
                          </m:r>
                        </m:sub>
                      </m:sSub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𝑟𝑎𝑛𝑘</m:t>
                          </m:r>
                        </m:sub>
                      </m:sSub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tr-T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𝐵𝑖𝑎𝑠</m:t>
                          </m:r>
                        </m:e>
                        <m:sub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𝑑𝑅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tr-T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η</m:t>
                          </m:r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tr-TR" sz="16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𝐴𝑆</m:t>
                      </m:r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tr-TR" sz="1600" b="0" dirty="0"/>
              </a:p>
              <a:p>
                <a:endParaRPr lang="tr-TR" sz="1600" b="0" dirty="0"/>
              </a:p>
              <a:p>
                <a:endParaRPr lang="tr-T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𝑆h𝑎𝑑𝑜𝑤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</m:e>
                        <m:sub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tr-TR" sz="1600" b="0" i="1" smtClean="0">
                              <a:latin typeface="Cambria Math" panose="02040503050406030204" pitchFamily="18" charset="0"/>
                            </a:rPr>
                            <m:t>𝑑𝐴𝑆</m:t>
                          </m:r>
                        </m:den>
                      </m:f>
                      <m:r>
                        <a:rPr lang="tr-T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tr-T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tr-T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600" i="1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sz="16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tr-T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600" i="1">
                                      <a:latin typeface="Cambria Math" panose="02040503050406030204" pitchFamily="18" charset="0"/>
                                    </a:rPr>
                                    <m:t>𝐵𝑖𝑎𝑠</m:t>
                                  </m:r>
                                </m:e>
                                <m:sub>
                                  <m:r>
                                    <a:rPr lang="tr-TR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tr-T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sz="1600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l-G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tr-TR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tr-T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952E1D-1BED-22A5-0434-43259888D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67" y="3688285"/>
                <a:ext cx="4939622" cy="2354106"/>
              </a:xfrm>
              <a:prstGeom prst="rect">
                <a:avLst/>
              </a:prstGeom>
              <a:blipFill>
                <a:blip r:embed="rId2"/>
                <a:stretch>
                  <a:fillRect l="-1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BB9191-540E-75D5-4587-8CF7B278267B}"/>
                  </a:ext>
                </a:extLst>
              </p:cNvPr>
              <p:cNvSpPr txBox="1"/>
              <p:nvPr/>
            </p:nvSpPr>
            <p:spPr>
              <a:xfrm>
                <a:off x="196381" y="1270342"/>
                <a:ext cx="9082631" cy="152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𝐹𝑙𝑜𝑤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400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𝐿𝑂𝑊</m:t>
                          </m:r>
                        </m:sup>
                      </m:sSubSup>
                      <m:r>
                        <a:rPr lang="tr-T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𝑀𝐼𝐷</m:t>
                          </m:r>
                        </m:sup>
                      </m:sSubSup>
                      <m:r>
                        <a:rPr lang="tr-T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𝐻𝐼𝐺𝐻</m:t>
                          </m:r>
                        </m:sup>
                      </m:sSubSup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   +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𝐿𝑂𝑊</m:t>
                              </m:r>
                            </m:sup>
                          </m:sSubSup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p>
                          </m:sSubSup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𝐻𝐼𝐺𝐻</m:t>
                              </m:r>
                            </m:sup>
                          </m:sSubSup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η</m:t>
                      </m:r>
                      <m:d>
                        <m:d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𝐴𝑐𝑡𝑖𝑣𝑒𝑆h𝑎𝑟𝑒</m:t>
                              </m:r>
                            </m:e>
                            <m:sub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tr-T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𝐵𝑖𝑎𝑠</m:t>
                              </m:r>
                            </m:e>
                            <m:sub>
                              <m:r>
                                <a:rPr lang="tr-T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𝐵𝑖𝑎𝑠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γ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𝐴𝑐𝑡𝑖𝑣𝑒𝑆h𝑎𝑟𝑒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</a:rPr>
                        <m:t>φ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𝐶𝑜𝑛𝑡𝑟𝑜𝑙𝑠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tr-TR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BB9191-540E-75D5-4587-8CF7B2782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81" y="1270342"/>
                <a:ext cx="9082631" cy="1524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BA472E9-AFE4-562C-9706-0DC7E18D2046}"/>
              </a:ext>
            </a:extLst>
          </p:cNvPr>
          <p:cNvSpPr txBox="1"/>
          <p:nvPr/>
        </p:nvSpPr>
        <p:spPr>
          <a:xfrm>
            <a:off x="859167" y="313847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28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E57386-973D-46C9-23C5-A333C1EB4B1E}"/>
              </a:ext>
            </a:extLst>
          </p:cNvPr>
          <p:cNvSpPr txBox="1"/>
          <p:nvPr/>
        </p:nvSpPr>
        <p:spPr>
          <a:xfrm>
            <a:off x="773251" y="540047"/>
            <a:ext cx="3323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tr-T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tr-T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AE923-186D-0E53-0061-0C79A36CDEF4}"/>
              </a:ext>
            </a:extLst>
          </p:cNvPr>
          <p:cNvSpPr txBox="1"/>
          <p:nvPr/>
        </p:nvSpPr>
        <p:spPr>
          <a:xfrm>
            <a:off x="705745" y="1546503"/>
            <a:ext cx="9438571" cy="405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«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suggest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purchased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capital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preference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AutoNum type="arabicPeriod"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bifurcation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purchased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adjusted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maximization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closet-indexers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they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additional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offering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632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1498</Words>
  <Application>Microsoft Macintosh PowerPoint</Application>
  <PresentationFormat>Geniş ekran</PresentationFormat>
  <Paragraphs>159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52343</dc:creator>
  <cp:lastModifiedBy>Ömer Eren</cp:lastModifiedBy>
  <cp:revision>16</cp:revision>
  <dcterms:created xsi:type="dcterms:W3CDTF">2026-01-07T11:37:25Z</dcterms:created>
  <dcterms:modified xsi:type="dcterms:W3CDTF">2026-01-09T07:19:31Z</dcterms:modified>
</cp:coreProperties>
</file>